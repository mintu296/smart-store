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Entry</c:v>
                  </c:pt>
                  <c:pt idx="1">
                    <c:v>Zone visit</c:v>
                  </c:pt>
                  <c:pt idx="2">
                    <c:v>Billing queue</c:v>
                  </c:pt>
                  <c:pt idx="3">
                    <c:v>Purchase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64</c:v>
                </c:pt>
                <c:pt idx="2">
                  <c:v>38</c:v>
                </c:pt>
                <c:pt idx="3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models</c:v>
                  </c:pt>
                  <c:pt idx="1">
                    <c:v>funnel</c:v>
                  </c:pt>
                  <c:pt idx="2">
                    <c:v>main</c:v>
                  </c:pt>
                  <c:pt idx="3">
                    <c:v>staff</c:v>
                  </c:pt>
                  <c:pt idx="4">
                    <c:v>metrics</c:v>
                  </c:pt>
                  <c:pt idx="5">
                    <c:v>anomalies</c:v>
                  </c:pt>
                  <c:pt idx="6">
                    <c:v>db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94</c:v>
                </c:pt>
                <c:pt idx="2">
                  <c:v>92</c:v>
                </c:pt>
                <c:pt idx="3">
                  <c:v>89</c:v>
                </c:pt>
                <c:pt idx="4">
                  <c:v>83</c:v>
                </c:pt>
                <c:pt idx="5">
                  <c:v>72</c:v>
                </c:pt>
                <c:pt idx="6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image" Target="../media/image-11-5.png"/><Relationship Id="rId7" Type="http://schemas.openxmlformats.org/officeDocument/2006/relationships/image" Target="../media/image-11-6.png"/><Relationship Id="rId8" Type="http://schemas.openxmlformats.org/officeDocument/2006/relationships/image" Target="../media/image-11-7.png"/><Relationship Id="rId9" Type="http://schemas.openxmlformats.org/officeDocument/2006/relationships/image" Target="../media/image-11-8.png"/><Relationship Id="rId10" Type="http://schemas.openxmlformats.org/officeDocument/2006/relationships/image" Target="../media/image-11-9.png"/><Relationship Id="rId11" Type="http://schemas.openxmlformats.org/officeDocument/2006/relationships/image" Target="../media/image-11-10.png"/><Relationship Id="rId12" Type="http://schemas.openxmlformats.org/officeDocument/2006/relationships/image" Target="../media/image-11-11.png"/><Relationship Id="rId13" Type="http://schemas.openxmlformats.org/officeDocument/2006/relationships/image" Target="../media/image-11-1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1005840"/>
            <a:ext cx="658368" cy="658368"/>
          </a:xfrm>
          <a:prstGeom prst="rect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61320" y="1005840"/>
            <a:ext cx="658368" cy="658368"/>
          </a:xfrm>
          <a:prstGeom prst="rect">
            <a:avLst/>
          </a:prstGeom>
          <a:solidFill>
            <a:srgbClr val="3730A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005840"/>
            <a:ext cx="658368" cy="658368"/>
          </a:xfrm>
          <a:prstGeom prst="rect">
            <a:avLst/>
          </a:prstGeom>
          <a:solidFill>
            <a:srgbClr val="14B8A6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1874520"/>
            <a:ext cx="658368" cy="658368"/>
          </a:xfrm>
          <a:prstGeom prst="rect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61320" y="1874520"/>
            <a:ext cx="658368" cy="658368"/>
          </a:xfrm>
          <a:prstGeom prst="rect">
            <a:avLst/>
          </a:prstGeom>
          <a:solidFill>
            <a:srgbClr val="F59E0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143000"/>
            <a:ext cx="658368" cy="65836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1301008"/>
            <a:ext cx="342351" cy="34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 ·  ENGINEERING HIRING CHALLENGE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Intelligence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CCTV footage into a live offline-store analytics API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822960" y="4343400"/>
            <a:ext cx="10515600" cy="868680"/>
          </a:xfrm>
          <a:prstGeom prst="rect">
            <a:avLst/>
          </a:prstGeom>
          <a:solidFill>
            <a:srgbClr val="27256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3434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conversion rate = purchasing visitors ÷ unique visitors in the session window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Event stream → Intelligence API → Live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stores are a complete data blind spot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runs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physical stores across 8 cities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Their online channel tracks every session, click and drop-off in real time — the offline floor sees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brief: start from raw, anonymised camera footage and finish with a working, containerised analytics API — every architectural decision from frame to API response is ours to make.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1783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60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4069080"/>
            <a:ext cx="1783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4160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606040" y="5029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angles / 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4069080"/>
            <a:ext cx="178308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41605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3F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572000" y="50292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visibility today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1554480"/>
            <a:ext cx="4892040" cy="416052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82880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1581" y="1949501"/>
            <a:ext cx="261518" cy="26151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80960" y="1847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good looks like</a:t>
            </a:r>
            <a:endParaRPr lang="en-US" sz="1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551176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52360" y="2514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individuals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groups — accurate footfall</a:t>
            </a:r>
            <a:endParaRPr lang="en-US" sz="14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32841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52360" y="3291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staff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from every customer metric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10565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4069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re-entry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visitor, one session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4882896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52360" y="4846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POS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footfall → real conversion rate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five-stage pipeline, one HTTP contract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21408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12140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1316736" y="2121408"/>
            <a:ext cx="585216" cy="585216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188" y="2261860"/>
            <a:ext cx="304312" cy="304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346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CCTV clips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3232" y="32004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· floor · billing, 3 angles per store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33472" y="258318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834640" y="1737360"/>
            <a:ext cx="2121408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4640" y="1737360"/>
            <a:ext cx="2121408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0"/>
          <p:cNvSpPr/>
          <p:nvPr/>
        </p:nvSpPr>
        <p:spPr>
          <a:xfrm>
            <a:off x="3602736" y="2121408"/>
            <a:ext cx="585216" cy="58521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188" y="2261860"/>
            <a:ext cx="304312" cy="304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34640" y="28346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999232" y="32004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+ ByteTrack + Re-ID + zones + staff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19472" y="258318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5120640" y="1737360"/>
            <a:ext cx="2121408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120640" y="1737360"/>
            <a:ext cx="2121408" cy="109728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20" name="Shape 16"/>
          <p:cNvSpPr/>
          <p:nvPr/>
        </p:nvSpPr>
        <p:spPr>
          <a:xfrm>
            <a:off x="5888736" y="2121408"/>
            <a:ext cx="585216" cy="585216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188" y="2261860"/>
            <a:ext cx="304312" cy="304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28346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stream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285232" y="32004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events, idempotent POST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205472" y="258318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7406640" y="1737360"/>
            <a:ext cx="2121408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06640" y="1737360"/>
            <a:ext cx="2121408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Shape 22"/>
          <p:cNvSpPr/>
          <p:nvPr/>
        </p:nvSpPr>
        <p:spPr>
          <a:xfrm>
            <a:off x="8174736" y="2121408"/>
            <a:ext cx="585216" cy="585216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188" y="2261860"/>
            <a:ext cx="304312" cy="304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06640" y="28346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API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7571232" y="32004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SQLite · Redis endpoints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491472" y="258318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26"/>
          <p:cNvSpPr/>
          <p:nvPr/>
        </p:nvSpPr>
        <p:spPr>
          <a:xfrm>
            <a:off x="9692640" y="1737360"/>
            <a:ext cx="2121408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92640" y="1737360"/>
            <a:ext cx="2121408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28"/>
          <p:cNvSpPr/>
          <p:nvPr/>
        </p:nvSpPr>
        <p:spPr>
          <a:xfrm>
            <a:off x="10460736" y="2121408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1188" y="2261860"/>
            <a:ext cx="304312" cy="30431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92640" y="2834640"/>
            <a:ext cx="212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9857232" y="320040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WebSocket-driven React UI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48640" y="4434840"/>
            <a:ext cx="11064240" cy="132588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68680" y="4736592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743" y="4872655"/>
            <a:ext cx="294803" cy="294803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600200" y="4572000"/>
            <a:ext cx="9784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holds it together.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between pipeline and API is a single HTTP endpoint —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/events/ingest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Swap disk-backed clips for edge cameras streaming to Kafka tomorrow and the API never changes.</a:t>
            </a:r>
            <a:endParaRPr lang="en-US" sz="1600" dirty="0"/>
          </a:p>
        </p:txBody>
      </p:sp>
      <p:sp>
        <p:nvSpPr>
          <p:cNvPr id="42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frame to API response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017520" cy="3291840"/>
          </a:xfrm>
          <a:prstGeom prst="rect">
            <a:avLst/>
          </a:prstGeom>
          <a:solidFill>
            <a:srgbClr val="27256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09344"/>
            <a:ext cx="384048" cy="384048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04" y="1701516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819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pipeline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detector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47802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tracking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898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Colour-histogram Re-ID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319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polygons (ray-cast)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37398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staff classifier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4160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POS-free abandon candidates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11880" y="27432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11880" y="3108960"/>
            <a:ext cx="86868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429000" y="3154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/events/ingest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17720" y="1463040"/>
            <a:ext cx="3200400" cy="3291840"/>
          </a:xfrm>
          <a:prstGeom prst="rect">
            <a:avLst/>
          </a:prstGeom>
          <a:solidFill>
            <a:srgbClr val="27256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82312" y="1609344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484" y="1701516"/>
            <a:ext cx="199705" cy="19970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57800" y="1581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API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93776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 v2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3776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UPSERT → broadcast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37760" y="2788920"/>
            <a:ext cx="128016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47488" y="2880360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103" y="2954975"/>
            <a:ext cx="161666" cy="16166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93776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937760" y="341985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355080" y="2788920"/>
            <a:ext cx="1280160" cy="868680"/>
          </a:xfrm>
          <a:prstGeom prst="rect">
            <a:avLst/>
          </a:prstGeom>
          <a:solidFill>
            <a:srgbClr val="1E1B4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64808" y="2880360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423" y="2954975"/>
            <a:ext cx="161666" cy="16166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355080" y="32004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355080" y="341985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+ pub/sub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937760" y="38862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Side-effects run only after the SQL transaction commits.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863840" y="3108960"/>
            <a:ext cx="50292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8412480" y="1463040"/>
            <a:ext cx="3200400" cy="3291840"/>
          </a:xfrm>
          <a:prstGeom prst="rect">
            <a:avLst/>
          </a:prstGeom>
          <a:solidFill>
            <a:srgbClr val="272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577072" y="160934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9244" y="1701516"/>
            <a:ext cx="199705" cy="19970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052560" y="1581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surface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8732520" y="24323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/funnel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8732520" y="2852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/heatmap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8732520" y="32735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/anomalies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8732520" y="36941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/insights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87325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  ·  WS /ws/{id}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at the storage layer · deterministic uuid5 event_ids · graceful degradation when Redis is down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DETECTION  (30 PTS)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detection layer is the foundation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86537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739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Detector — YOLOv11n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0428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CPU-runnable ~6 MB weights; newer backbone lifts small-object recall on partial-occlusion crops vs v8n. Same Ultralytics API.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70248" y="1554480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86537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47488" y="17739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Tracker — ByteTrack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98848" y="230428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in model.track() — zero glue. Promotes low-confidence detections on continuity instead of dropping them.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91856" y="1554480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93024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186537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69096" y="17739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Re-ID — colour histogram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0456" y="2304288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96-dim L2-normalised, cosine @ 0.75 over a 30-min window. OSNet-shaped interface so a GPU upgrade is a one-file swap.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38728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7398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84962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75818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Zones — polygons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288536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0..1 per camera; plain-Python ray-casting — no Shapely on the hot path.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70248" y="3538728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37398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384962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47488" y="375818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 — per-store palette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98848" y="4288536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uniform check (S1 all-black; S2 pink+black) with a &gt;20-min behavioural fallback. VLM tiebreaker stubbed.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91856" y="3538728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93024" y="37398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384962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69096" y="375818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Cross-camera dedup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20456" y="4288536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floor track within 3 s of an ENTRY in the overlap region inherits that visitor_id — no threshold double-count.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CHALLENGES IN THE FOOTAGE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named edge case, handled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IT'S HANDLED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entry (2–4)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ENTRY events, each tagged group_size=N via a 2-s co-arrival window (back-stamped)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movement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Per-store HSV uniform palette + behavioural fallback when the crop is unusable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Re-ID match within 30 min → REENTRY with the same visitor_id; never re-counted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occlusion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Low-confidence detection emitted with its real confidence — never silently dropped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queue buildup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queue_depth recomputed per frame; ABANDON candidate when the queue is left for ≥5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returns 200 with zeros; dashboard shows “0 visitors today” — no divide-by-zero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Camera-angle overlap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Doorway overlap region lets a floor track inherit the entry visitor_id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730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Zero-purchase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rate = 0.0, safely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EVENT STREAM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PDF-literal schema, idempotent by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0" cy="411480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pipeline emits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"event_id":   "f3c1…uuid5",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"store_id":   "STORE_BLR_001",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"camera_id":  "CAM_ENTRY",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"visitor_id": "VIS_a1b2c3d4",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"event_type": "ENTRY",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 "2026-03-08T18:10:05Z",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"zone_id":    null,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"dwell_ms":   0,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"is_staff":   false,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0.91,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"metadata":   { "queue_depth": null,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"session_seq": 1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46520" y="1691640"/>
            <a:ext cx="5166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89280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0350" y="1993758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7804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PDF-literal, not the sample JSONL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78040" y="224028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scores schema compliance against the PDF — so the PDF is authoritative. The illustrative sample is a reference artefact only.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3063240"/>
            <a:ext cx="5166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9400" y="326440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350" y="3365358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3246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uuid5 event_ids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178040" y="361188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uuid5(store|cam|visitor|type|ts). Re-running the pipeline emits the same ids — the API replies accepted=0, duplicates=N.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46520" y="4434840"/>
            <a:ext cx="51663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29400" y="4636008"/>
            <a:ext cx="420624" cy="42062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350" y="4736958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040" y="4617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Resilient emission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178040" y="498348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of ≤200 with 3-attempt backoff; a transient API hiccup never poisons the rest of the run.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INTELLIGENCE API  (35 PTS)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Queryable endpoints, production-aware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91440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653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739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/metrics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30428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visitors, conversion rate, queue depth, avg dwell/zone, abandonment — “today” anchored on the latest event 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0248" y="1554480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0248" y="1554480"/>
            <a:ext cx="91440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Shape 9"/>
          <p:cNvSpPr/>
          <p:nvPr/>
        </p:nvSpPr>
        <p:spPr>
          <a:xfrm>
            <a:off x="4498848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86537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7739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/funnel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230428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→ Zone Visit → Billing Queue → Purchase. Each stage a strict subset; re-entries collapse to one visitor.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91856" y="1554480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91856" y="1554480"/>
            <a:ext cx="91440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0456" y="175564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86537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96528" y="17739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/heatmap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47888" y="230428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Per-zone visits + dwell normalised 0..100; data_confidence: low under 20 sessions.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538728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538728"/>
            <a:ext cx="91440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Shape 19"/>
          <p:cNvSpPr/>
          <p:nvPr/>
        </p:nvSpPr>
        <p:spPr>
          <a:xfrm>
            <a:off x="777240" y="37398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849624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53312" y="375818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/anomalies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04672" y="4288536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spike (2× = CRITICAL), conversion drop (&gt;2σ), dead zone — each with severity + suggested_action.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270248" y="3538728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70248" y="3538728"/>
            <a:ext cx="91440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4"/>
          <p:cNvSpPr/>
          <p:nvPr/>
        </p:nvSpPr>
        <p:spPr>
          <a:xfrm>
            <a:off x="4498848" y="37398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3849624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74920" y="375818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/insights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526280" y="4288536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composite call powering every dashboard panel: camera health, occupancy, 7-day deltas, trends.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7991856" y="3538728"/>
            <a:ext cx="352044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91856" y="3538728"/>
            <a:ext cx="91440" cy="1783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6" name="Shape 29"/>
          <p:cNvSpPr/>
          <p:nvPr/>
        </p:nvSpPr>
        <p:spPr>
          <a:xfrm>
            <a:off x="8220456" y="3739896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3849624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796528" y="375818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247888" y="4288536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last-event ts, STALE_FEED &gt;10 min, DB + Redis liveness — the on-call diagnostic.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Session-based funnel &amp; POS correlation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funnel — unique visitors per stage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92024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623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 — each stage is enforced as a subset of the previous one.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92240" y="1783080"/>
            <a:ext cx="5120640" cy="397764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66560" y="201168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261" y="213238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011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 correlation, split across two layers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6656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Pipeline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BILLING_QUEUE_ABANDON as a candidate — it never sees POS rows (cameras and tills live on different teams' wires).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766560" y="37033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API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candidate against POS at read time in a 5-minute window. A visitor in the billing zone within 5 min before a transaction counts as converted.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766560" y="4983480"/>
            <a:ext cx="4572000" cy="640080"/>
          </a:xfrm>
          <a:prstGeom prst="rect">
            <a:avLst/>
          </a:prstGeom>
          <a:solidFill>
            <a:srgbClr val="27256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03720" y="498348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by time window + store — there is no customer_id in the POS feed.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PRODUCTION READINESS  (20 PTS)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run, not just to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0240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567" y="204313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019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One-command boot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brings up api + redis with healthchecks and a named volume; make smoke seeds a fixture and hits every endpoint.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40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920240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127" y="204313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019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Idempotent ingest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32320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PK + UPSERT; replaying a batch yields duplicates=N with no double-count.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440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40480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396337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8221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logs + tracing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43434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line per request (trace_id, store_id, endpoint, latency_ms…); x-trace-id preserved or generated and echoed back.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566160"/>
            <a:ext cx="544068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840480"/>
            <a:ext cx="512064" cy="512064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127" y="396337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82219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Graceful degradation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32320" y="434340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down → clean 503; Redis down → counters degrade but SQLite still serves correct reads.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 tests · 79% coverage · edge-case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645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6420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600200"/>
            <a:ext cx="1645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66420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37744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stmt coverage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600200"/>
            <a:ext cx="16459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66420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20624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by module (%)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3520440"/>
          <a:ext cx="5852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492240" y="1600200"/>
            <a:ext cx="5120640" cy="4572000"/>
          </a:xfrm>
          <a:prstGeom prst="rect">
            <a:avLst/>
          </a:prstGeom>
          <a:solidFill>
            <a:srgbClr val="1E1B4B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cases explicitly tested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0428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14032" y="22860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store (no events)</a:t>
            </a:r>
            <a:endParaRPr lang="en-US" sz="11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1975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14032" y="260146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All-staff clip — excluded from metrics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93522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14032" y="291693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purchases — no divide-by-zero</a:t>
            </a:r>
            <a:endParaRPr lang="en-US" sz="11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250692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14032" y="323240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Re-entry de-dup in the funnel</a:t>
            </a:r>
            <a:endParaRPr lang="en-US" sz="11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566160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14032" y="35478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idempotency on replay</a:t>
            </a:r>
            <a:endParaRPr lang="en-US" sz="11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88162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14032" y="38633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&gt; 500 → 413, not 5xx</a:t>
            </a:r>
            <a:endParaRPr lang="en-US" sz="11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4197096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114032" y="417880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event — partial success</a:t>
            </a:r>
            <a:endParaRPr lang="en-US" sz="11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4512564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114032" y="449427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detection accepted</a:t>
            </a:r>
            <a:endParaRPr lang="en-US" sz="11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2280" y="4828032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114032" y="480974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correlation at the 5-min boundary</a:t>
            </a:r>
            <a:endParaRPr lang="en-US" sz="11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2280" y="5143500"/>
            <a:ext cx="201168" cy="20116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114032" y="512521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Group-entry atomic flush</a:t>
            </a:r>
            <a:endParaRPr lang="en-US" sz="11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2280" y="5458968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7114032" y="54406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downgrade after uniform removal</a:t>
            </a:r>
            <a:endParaRPr lang="en-US" sz="11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2280" y="5774436"/>
            <a:ext cx="201168" cy="201168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7114032" y="575614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 eviction past max lifetime</a:t>
            </a:r>
            <a:endParaRPr lang="en-US" sz="1150" dirty="0"/>
          </a:p>
        </p:txBody>
      </p:sp>
      <p:sp>
        <p:nvSpPr>
          <p:cNvPr id="41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42" name="Text 27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 · ENGINEERING THINKING  (15 PTS)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load-bearing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74520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465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 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560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SUGGESTED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834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/ v11n / RT-DETR compared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" y="3657600"/>
            <a:ext cx="146304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41605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+ ByteTrack — newer backbone, same API, better occlusion recall at zero extra cost at the gate.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70248" y="1600200"/>
            <a:ext cx="352044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70248" y="1600200"/>
            <a:ext cx="352044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6" name="Shape 13"/>
          <p:cNvSpPr/>
          <p:nvPr/>
        </p:nvSpPr>
        <p:spPr>
          <a:xfrm>
            <a:off x="4498848" y="176479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1874520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47488" y="17465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 engine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498848" y="2560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498848" y="2834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for a multi-writer future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498848" y="3657600"/>
            <a:ext cx="1463040" cy="3657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18"/>
          <p:cNvSpPr/>
          <p:nvPr/>
        </p:nvSpPr>
        <p:spPr>
          <a:xfrm>
            <a:off x="4498848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OVERRODE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498848" y="41605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Redis — FAQ endorses it, Redis is on the critical path anyway, single-writer at this scale.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991856" y="1600200"/>
            <a:ext cx="352044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991856" y="1600200"/>
            <a:ext cx="3520440" cy="77724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6" name="Shape 22"/>
          <p:cNvSpPr/>
          <p:nvPr/>
        </p:nvSpPr>
        <p:spPr>
          <a:xfrm>
            <a:off x="8220456" y="176479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1874520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69096" y="174650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Re-ID approach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220456" y="25603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SUGGESTED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8220456" y="28346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OSNet via torchreid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8220456" y="3657600"/>
            <a:ext cx="1463040" cy="3657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2" name="Text 27"/>
          <p:cNvSpPr/>
          <p:nvPr/>
        </p:nvSpPr>
        <p:spPr>
          <a:xfrm>
            <a:off x="8220456" y="3657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OVERRODE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8220456" y="41605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histogram — torch is ~750 MB and fails the CPU-only gate. Kept the OSNet-shaped interface for a 1-file swap.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SHAPED THE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Used as a sparring partner, not an oracle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200400"/>
          </a:xfrm>
          <a:prstGeom prst="rect">
            <a:avLst/>
          </a:prstGeom>
          <a:solidFill>
            <a:srgbClr val="27256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 that worked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list options and defend each side — then make the call myself.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detection stacks on CPU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schema reconciliation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206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test stubs (then heavily edited)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600200"/>
            <a:ext cx="5394960" cy="3200400"/>
          </a:xfrm>
          <a:prstGeom prst="rect">
            <a:avLst/>
          </a:prstGeom>
          <a:solidFill>
            <a:srgbClr val="27256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9385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1828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 that didn't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92240" y="2468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a single answer and letting it pick.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3017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consistently chose the “production-grade” option (Postgres, OSNet) even where the rubric explicitly de-rated that axis — so every AI suggestion was logged with a kept / overrode verdict in CHOICES.md.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beat the model: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per-store staff palettes (Store 1 all-black, Store 2 pink + black) came from a human and were encoded as HSV ranges and tested — exactly what a generic VLM prompt would miss.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ANOTHER WEEK BUYS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limits &amp; the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4708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OSNet Re-ID via ONNX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Kills the same-clothing mis-merge without bloating the CPU image.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48716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5968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48716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VLM-generated zone polygons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One-shot call against the layout PNG returns named polygons; plumbing already exists.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34670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23697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→ Postgres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day a second concurrent writer is real — driver swap in app/db.py is mechanical.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85800" y="3986784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09651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98678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ingest mode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Historical re-ingests stop tripping the STALE_FEED warning.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85800" y="473659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846320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73659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CI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Spin up compose in CI, run the pipeline on a held-out clip, assert /metrics is non-empty.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9098280" y="1737360"/>
            <a:ext cx="2514600" cy="3749040"/>
          </a:xfrm>
          <a:prstGeom prst="rect">
            <a:avLst/>
          </a:prstGeom>
          <a:solidFill>
            <a:srgbClr val="3730A3"/>
          </a:solidFill>
          <a:ln/>
          <a:effectLst>
            <a:outerShdw sx="100000" sy="100000" kx="0" ky="0" algn="bl" rotWithShape="0" blurRad="101600" dist="38100" dir="8100000">
              <a:srgbClr val="1E1B4B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9372600" y="201168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3301" y="2132381"/>
            <a:ext cx="261518" cy="26151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12680" y="20116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9372600" y="274320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earns its place by improving the accuracy or the actionability of one number: offline conversion rate.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docs/DESIGN.md · docs/CHOICES.md · make smoke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Retail · Store Intelligence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Retail — Store Intelligence</dc:title>
  <dc:subject>PptxGenJS Presentation</dc:subject>
  <dc:creator>Dr. Mintu</dc:creator>
  <cp:lastModifiedBy>Dr. Mintu</cp:lastModifiedBy>
  <cp:revision>1</cp:revision>
  <dcterms:created xsi:type="dcterms:W3CDTF">2026-06-04T14:22:20Z</dcterms:created>
  <dcterms:modified xsi:type="dcterms:W3CDTF">2026-06-04T14:22:20Z</dcterms:modified>
</cp:coreProperties>
</file>